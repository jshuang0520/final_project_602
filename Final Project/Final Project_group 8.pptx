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pto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文字版面配置區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文字版面配置區 3"/>
          <p:cNvSpPr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圖片版面配置區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.jpeg"/><Relationship Id="rId5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F5F2D3"/>
            </a:gs>
            <a:gs pos="13000">
              <a:srgbClr val="FFFDF6"/>
            </a:gs>
            <a:gs pos="46000">
              <a:srgbClr val="FFFDF6"/>
            </a:gs>
            <a:gs pos="56000">
              <a:srgbClr val="FFFFFF"/>
            </a:gs>
            <a:gs pos="84000">
              <a:srgbClr val="FFFDF6"/>
            </a:gs>
            <a:gs pos="100000">
              <a:srgbClr val="F5F2D3"/>
            </a:gs>
          </a:gsLst>
          <a:lin ang="189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標題 1"/>
          <p:cNvSpPr txBox="1"/>
          <p:nvPr>
            <p:ph type="ctrTitle"/>
          </p:nvPr>
        </p:nvSpPr>
        <p:spPr>
          <a:xfrm>
            <a:off x="429985" y="2033246"/>
            <a:ext cx="11332030" cy="1768250"/>
          </a:xfrm>
          <a:prstGeom prst="rect">
            <a:avLst/>
          </a:prstGeom>
        </p:spPr>
        <p:txBody>
          <a:bodyPr/>
          <a:lstStyle>
            <a:lvl1pPr>
              <a:defRPr b="1"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Evaluating High-Voltage Battery Performance in the BMW i3 (60 Ah)</a:t>
            </a:r>
          </a:p>
        </p:txBody>
      </p:sp>
      <p:sp>
        <p:nvSpPr>
          <p:cNvPr id="95" name="副標題 2"/>
          <p:cNvSpPr txBox="1"/>
          <p:nvPr/>
        </p:nvSpPr>
        <p:spPr>
          <a:xfrm>
            <a:off x="-318953" y="5622469"/>
            <a:ext cx="3163390" cy="1494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Group 8</a:t>
            </a:r>
            <a:endParaRPr sz="2400"/>
          </a:p>
          <a:p>
            <a:pPr algn="ctr">
              <a:lnSpc>
                <a:spcPct val="90000"/>
              </a:lnSpc>
              <a:spcBef>
                <a:spcPts val="1000"/>
              </a:spcBef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2024/12/17</a:t>
            </a:r>
            <a:endParaRPr sz="2400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2000">
              <a:srgbClr val="F5F2D3"/>
            </a:gs>
            <a:gs pos="14000">
              <a:srgbClr val="FFFDF6"/>
            </a:gs>
            <a:gs pos="46000">
              <a:srgbClr val="FFFDF6"/>
            </a:gs>
            <a:gs pos="56000">
              <a:srgbClr val="FFFFFF"/>
            </a:gs>
            <a:gs pos="91000">
              <a:srgbClr val="FFFDF6"/>
            </a:gs>
            <a:gs pos="100000">
              <a:srgbClr val="F5F2D3"/>
            </a:gs>
          </a:gsLst>
          <a:lin ang="27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標題 1"/>
          <p:cNvSpPr txBox="1"/>
          <p:nvPr>
            <p:ph type="ctrTitle"/>
          </p:nvPr>
        </p:nvSpPr>
        <p:spPr>
          <a:xfrm>
            <a:off x="-1415143" y="260123"/>
            <a:ext cx="9144001" cy="815294"/>
          </a:xfrm>
          <a:prstGeom prst="rect">
            <a:avLst/>
          </a:prstGeom>
        </p:spPr>
        <p:txBody>
          <a:bodyPr/>
          <a:lstStyle>
            <a:lvl1pPr defTabSz="877823">
              <a:defRPr b="1" sz="5184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Project Overview</a:t>
            </a:r>
          </a:p>
        </p:txBody>
      </p:sp>
      <p:sp>
        <p:nvSpPr>
          <p:cNvPr id="98" name="副標題 2"/>
          <p:cNvSpPr txBox="1"/>
          <p:nvPr>
            <p:ph type="subTitle" idx="1"/>
          </p:nvPr>
        </p:nvSpPr>
        <p:spPr>
          <a:xfrm>
            <a:off x="859971" y="1238702"/>
            <a:ext cx="10929260" cy="5359175"/>
          </a:xfrm>
          <a:prstGeom prst="rect">
            <a:avLst/>
          </a:prstGeom>
        </p:spPr>
        <p:txBody>
          <a:bodyPr/>
          <a:lstStyle/>
          <a:p>
            <a:pPr marL="457200" indent="-457200" algn="l">
              <a:buSzPct val="100000"/>
              <a:buChar char="●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Objective: Predict battery performance of electric vehicles</a:t>
            </a:r>
          </a:p>
          <a:p>
            <a:pPr lvl="1" marL="800100" indent="-342900" algn="l">
              <a:spcBef>
                <a:spcPts val="500"/>
              </a:spcBef>
              <a:buSzPct val="100000"/>
              <a:buChar char="●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Data: Information on 72 driving trips of a BMW i3</a:t>
            </a:r>
            <a:endParaRPr sz="2000"/>
          </a:p>
          <a:p>
            <a:pPr lvl="1" marL="800100" indent="-342900" algn="l">
              <a:spcBef>
                <a:spcPts val="500"/>
              </a:spcBef>
              <a:buSzPct val="100000"/>
              <a:buChar char="●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Outcome: Battery consumption (difference between the start and end battery levels)</a:t>
            </a:r>
            <a:endParaRPr sz="2000"/>
          </a:p>
          <a:p>
            <a:pPr lvl="1" marL="800100" indent="-342900" algn="l">
              <a:spcBef>
                <a:spcPts val="500"/>
              </a:spcBef>
              <a:buSzPct val="100000"/>
              <a:buChar char="●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Features:</a:t>
            </a:r>
            <a:endParaRPr sz="2000"/>
          </a:p>
          <a:p>
            <a:pPr lvl="2" marL="1371600" indent="-457200" algn="l">
              <a:spcBef>
                <a:spcPts val="500"/>
              </a:spcBef>
              <a:buSzPct val="100000"/>
              <a:buAutoNum type="alphaLcParenR" startAt="1"/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Environment:</a:t>
            </a:r>
            <a:r>
              <a:rPr b="0"/>
              <a:t> weather, route, area</a:t>
            </a:r>
            <a:endParaRPr sz="1800"/>
          </a:p>
          <a:p>
            <a:pPr lvl="2" marL="1371600" indent="-457200" algn="l">
              <a:spcBef>
                <a:spcPts val="500"/>
              </a:spcBef>
              <a:buSzPct val="100000"/>
              <a:buAutoNum type="alphaLcParenR" startAt="1"/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Vehicle:</a:t>
            </a:r>
            <a:r>
              <a:rPr b="0"/>
              <a:t> distance, speed, battery temperature, cabin temperature</a:t>
            </a:r>
            <a:endParaRPr sz="1800"/>
          </a:p>
          <a:p>
            <a:pPr marL="342900" indent="-342900" algn="l">
              <a:buSzPct val="100000"/>
              <a:buChar char="●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Questions</a:t>
            </a:r>
          </a:p>
          <a:p>
            <a:pPr lvl="1" marL="800100" indent="-342900" algn="l">
              <a:spcBef>
                <a:spcPts val="500"/>
              </a:spcBef>
              <a:buSzPct val="100000"/>
              <a:buChar char="●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Which models predict battery consumption better: </a:t>
            </a:r>
            <a:r>
              <a:rPr b="1"/>
              <a:t>Linear Models</a:t>
            </a:r>
            <a:r>
              <a:t> or </a:t>
            </a:r>
            <a:r>
              <a:rPr b="1"/>
              <a:t>Tree-Based Models</a:t>
            </a:r>
            <a:r>
              <a:t>?</a:t>
            </a:r>
            <a:endParaRPr sz="2000"/>
          </a:p>
          <a:p>
            <a:pPr lvl="1" marL="800100" indent="-342900" algn="l">
              <a:spcBef>
                <a:spcPts val="500"/>
              </a:spcBef>
              <a:buSzPct val="100000"/>
              <a:buChar char="●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Which features are more important for predicting battery usage: </a:t>
            </a:r>
            <a:r>
              <a:rPr b="1"/>
              <a:t>Environment</a:t>
            </a:r>
            <a:r>
              <a:t> or </a:t>
            </a:r>
            <a:r>
              <a:rPr b="1"/>
              <a:t>Vehicle</a:t>
            </a:r>
            <a:r>
              <a:t>?</a:t>
            </a:r>
            <a:endParaRPr b="1"/>
          </a:p>
          <a:p>
            <a:pPr marL="342900" indent="-342900" algn="l">
              <a:buSzPct val="100000"/>
              <a:buChar char="●"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Approach</a:t>
            </a:r>
          </a:p>
          <a:p>
            <a:pPr lvl="1" marL="800100" indent="-342900" algn="l">
              <a:spcBef>
                <a:spcPts val="500"/>
              </a:spcBef>
              <a:buSzPct val="100000"/>
              <a:buChar char="●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Test/training data split</a:t>
            </a:r>
            <a:endParaRPr sz="2000"/>
          </a:p>
          <a:p>
            <a:pPr lvl="1" marL="800100" indent="-342900" algn="l">
              <a:spcBef>
                <a:spcPts val="500"/>
              </a:spcBef>
              <a:buSzPct val="100000"/>
              <a:buChar char="●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Models: </a:t>
            </a:r>
            <a:r>
              <a:rPr b="1"/>
              <a:t>Linear Models</a:t>
            </a:r>
            <a:r>
              <a:t> and </a:t>
            </a:r>
            <a:r>
              <a:rPr b="1"/>
              <a:t>Tree-Based Models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2000">
              <a:srgbClr val="F5F2D3"/>
            </a:gs>
            <a:gs pos="14000">
              <a:srgbClr val="FFFDF6"/>
            </a:gs>
            <a:gs pos="46000">
              <a:srgbClr val="FFFDF6"/>
            </a:gs>
            <a:gs pos="56000">
              <a:srgbClr val="FFFFFF"/>
            </a:gs>
            <a:gs pos="91000">
              <a:srgbClr val="FFFDF6"/>
            </a:gs>
            <a:gs pos="100000">
              <a:srgbClr val="F5F2D3"/>
            </a:gs>
          </a:gsLst>
          <a:lin ang="27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標題 1"/>
          <p:cNvSpPr txBox="1"/>
          <p:nvPr>
            <p:ph type="ctrTitle"/>
          </p:nvPr>
        </p:nvSpPr>
        <p:spPr>
          <a:xfrm>
            <a:off x="391884" y="360363"/>
            <a:ext cx="9144001" cy="815294"/>
          </a:xfrm>
          <a:prstGeom prst="rect">
            <a:avLst/>
          </a:prstGeom>
        </p:spPr>
        <p:txBody>
          <a:bodyPr/>
          <a:lstStyle>
            <a:lvl1pPr defTabSz="877823">
              <a:defRPr b="1" sz="5184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Model Performance Summary</a:t>
            </a:r>
          </a:p>
        </p:txBody>
      </p:sp>
      <p:sp>
        <p:nvSpPr>
          <p:cNvPr id="101" name="副標題 2"/>
          <p:cNvSpPr txBox="1"/>
          <p:nvPr>
            <p:ph type="subTitle" idx="1"/>
          </p:nvPr>
        </p:nvSpPr>
        <p:spPr>
          <a:xfrm>
            <a:off x="859970" y="1317170"/>
            <a:ext cx="11332031" cy="5519058"/>
          </a:xfrm>
          <a:prstGeom prst="rect">
            <a:avLst/>
          </a:prstGeom>
        </p:spPr>
        <p:txBody>
          <a:bodyPr/>
          <a:lstStyle/>
          <a:p>
            <a:pPr marL="457200" indent="-457200" algn="l">
              <a:buSzPct val="100000"/>
              <a:buAutoNum type="arabicPeriod" startAt="1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Outcome variable: Battery consumption</a:t>
            </a:r>
          </a:p>
          <a:p>
            <a:pPr lvl="1" marL="800100" indent="-342900" algn="l">
              <a:spcBef>
                <a:spcPts val="500"/>
              </a:spcBef>
              <a:buSzPct val="100000"/>
              <a:buAutoNum type="arabicParenR" startAt="1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MSE</a:t>
            </a:r>
          </a:p>
          <a:p>
            <a:pPr lvl="1" marL="800100" indent="-342900" algn="l">
              <a:spcBef>
                <a:spcPts val="500"/>
              </a:spcBef>
              <a:buSzPct val="100000"/>
              <a:buAutoNum type="arabicParenR" startAt="1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lvl="1" marL="800100" indent="-342900" algn="l">
              <a:spcBef>
                <a:spcPts val="500"/>
              </a:spcBef>
              <a:buSzPct val="100000"/>
              <a:buAutoNum type="arabicParenR" startAt="3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lvl="1" marL="800100" indent="-342900" algn="l">
              <a:spcBef>
                <a:spcPts val="500"/>
              </a:spcBef>
              <a:buSzPct val="100000"/>
              <a:buAutoNum type="arabicParenR" startAt="4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lvl="1" marL="800100" indent="-342900" algn="l">
              <a:spcBef>
                <a:spcPts val="500"/>
              </a:spcBef>
              <a:buSzPct val="100000"/>
              <a:buAutoNum type="arabicParenR" startAt="2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Feature importance: Distance (&gt;0.90), battery/ambient temperature (~0.05), others (&lt; 0.01)</a:t>
            </a:r>
          </a:p>
          <a:p>
            <a:pPr marL="457200" indent="-457200" algn="l">
              <a:buSzPct val="100000"/>
              <a:buAutoNum type="arabicPeriod" startAt="1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Outcome variable: Battery consumption / distance</a:t>
            </a:r>
          </a:p>
          <a:p>
            <a:pPr marL="457200" indent="-457200" algn="l">
              <a:lnSpc>
                <a:spcPct val="100000"/>
              </a:lnSpc>
              <a:buSzPct val="100000"/>
              <a:buAutoNum type="arabicPeriod" startAt="1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Graph the results</a:t>
            </a:r>
          </a:p>
        </p:txBody>
      </p:sp>
      <p:pic>
        <p:nvPicPr>
          <p:cNvPr id="102" name="Google Shape;144;p27" descr="Google Shape;144;p2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283779" y="1733112"/>
            <a:ext cx="2854279" cy="13366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Google Shape;145;p27" descr="Google Shape;145;p2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72437" y="3429000"/>
            <a:ext cx="2463449" cy="9851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Google Shape;152;p28" descr="Google Shape;152;p2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10617" y="4414158"/>
            <a:ext cx="3496538" cy="22533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Google Shape;153;p28" descr="Google Shape;153;p2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256743" y="4414158"/>
            <a:ext cx="3242834" cy="225334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2000">
              <a:srgbClr val="F5F2D3"/>
            </a:gs>
            <a:gs pos="14000">
              <a:srgbClr val="FFFDF6"/>
            </a:gs>
            <a:gs pos="46000">
              <a:srgbClr val="FFFDF6"/>
            </a:gs>
            <a:gs pos="56000">
              <a:srgbClr val="FFFFFF"/>
            </a:gs>
            <a:gs pos="91000">
              <a:srgbClr val="FFFDF6"/>
            </a:gs>
            <a:gs pos="100000">
              <a:srgbClr val="F5F2D3"/>
            </a:gs>
          </a:gsLst>
          <a:lin ang="27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標題 1"/>
          <p:cNvSpPr txBox="1"/>
          <p:nvPr>
            <p:ph type="ctrTitle"/>
          </p:nvPr>
        </p:nvSpPr>
        <p:spPr>
          <a:xfrm>
            <a:off x="-2318657" y="360363"/>
            <a:ext cx="9144001" cy="815294"/>
          </a:xfrm>
          <a:prstGeom prst="rect">
            <a:avLst/>
          </a:prstGeom>
        </p:spPr>
        <p:txBody>
          <a:bodyPr/>
          <a:lstStyle>
            <a:lvl1pPr defTabSz="877823">
              <a:defRPr b="1" sz="5184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Discussions</a:t>
            </a:r>
          </a:p>
        </p:txBody>
      </p:sp>
      <p:sp>
        <p:nvSpPr>
          <p:cNvPr id="108" name="副標題 2"/>
          <p:cNvSpPr txBox="1"/>
          <p:nvPr>
            <p:ph type="subTitle" idx="1"/>
          </p:nvPr>
        </p:nvSpPr>
        <p:spPr>
          <a:xfrm>
            <a:off x="859970" y="1219200"/>
            <a:ext cx="11332031" cy="4865914"/>
          </a:xfrm>
          <a:prstGeom prst="rect">
            <a:avLst/>
          </a:prstGeom>
        </p:spPr>
        <p:txBody>
          <a:bodyPr/>
          <a:lstStyle/>
          <a:p>
            <a:pPr marL="457200" indent="-457200" algn="l">
              <a:buSzPct val="100000"/>
              <a:buAutoNum type="arabicPeriod" startAt="1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Implications</a:t>
            </a:r>
          </a:p>
          <a:p>
            <a:pPr lvl="1" marL="914400" indent="-457200" algn="l">
              <a:spcBef>
                <a:spcPts val="500"/>
              </a:spcBef>
              <a:buSzPct val="100000"/>
              <a:buChar char="●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Tree models perform worse for linear relationships but better for non-linear relationships compared to linear models</a:t>
            </a:r>
            <a:endParaRPr sz="2000"/>
          </a:p>
          <a:p>
            <a:pPr lvl="1" marL="914400" indent="-457200" algn="l">
              <a:spcBef>
                <a:spcPts val="500"/>
              </a:spcBef>
              <a:buSzPct val="100000"/>
              <a:buChar char="●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Temperature (and distance) is the most important feature in predicting battery usage</a:t>
            </a:r>
            <a:endParaRPr sz="2000"/>
          </a:p>
          <a:p>
            <a:pPr marL="457200" indent="-457200" algn="l">
              <a:buSzPct val="100000"/>
              <a:buAutoNum type="arabicPeriod" startAt="1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Limitations</a:t>
            </a:r>
          </a:p>
          <a:p>
            <a:pPr lvl="1" marL="914400" indent="-457200" algn="l">
              <a:spcBef>
                <a:spcPts val="500"/>
              </a:spcBef>
              <a:buSzPct val="100000"/>
              <a:buChar char="●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Small sample size</a:t>
            </a:r>
          </a:p>
          <a:p>
            <a:pPr lvl="2" marL="1371600" indent="-457200" algn="l">
              <a:lnSpc>
                <a:spcPct val="100000"/>
              </a:lnSpc>
              <a:spcBef>
                <a:spcPts val="500"/>
              </a:spcBef>
              <a:buSzPct val="100000"/>
              <a:buChar char="■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Cannot use cross-validation for model selection</a:t>
            </a:r>
          </a:p>
          <a:p>
            <a:pPr lvl="1" marL="914400" indent="-457200" algn="l">
              <a:spcBef>
                <a:spcPts val="500"/>
              </a:spcBef>
              <a:buSzPct val="100000"/>
              <a:buChar char="●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Lack of other important features</a:t>
            </a:r>
            <a:endParaRPr sz="2000"/>
          </a:p>
          <a:p>
            <a:pPr lvl="2" marL="1371600" indent="-457200" algn="l">
              <a:lnSpc>
                <a:spcPct val="100000"/>
              </a:lnSpc>
              <a:spcBef>
                <a:spcPts val="500"/>
              </a:spcBef>
              <a:buSzPct val="100000"/>
              <a:buChar char="■"/>
              <a:defRPr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Acceleration, brake usage, etc.</a:t>
            </a:r>
          </a:p>
          <a:p>
            <a:pPr marL="457200" indent="-457200" algn="l">
              <a:buSzPct val="100000"/>
              <a:buAutoNum type="arabicPeriod" startAt="1"/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Further research</a:t>
            </a:r>
          </a:p>
          <a:p>
            <a:pPr lvl="1" marL="742950" indent="-285750" algn="l">
              <a:lnSpc>
                <a:spcPct val="100000"/>
              </a:lnSpc>
              <a:spcBef>
                <a:spcPts val="500"/>
              </a:spcBef>
              <a:buSzPct val="100000"/>
              <a:buChar char="●"/>
              <a:defRPr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Granular data is needed to analyze time series effectively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4000">
              <a:srgbClr val="FFFDF6"/>
            </a:gs>
            <a:gs pos="30000">
              <a:srgbClr val="FFFDF6"/>
            </a:gs>
            <a:gs pos="46000">
              <a:srgbClr val="FFFDF6"/>
            </a:gs>
            <a:gs pos="56000">
              <a:srgbClr val="FFFFFF"/>
            </a:gs>
            <a:gs pos="77000">
              <a:srgbClr val="FFFDF6"/>
            </a:gs>
            <a:gs pos="92000">
              <a:srgbClr val="FFFDF6"/>
            </a:gs>
          </a:gsLst>
          <a:lin ang="108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 txBox="1"/>
          <p:nvPr/>
        </p:nvSpPr>
        <p:spPr>
          <a:xfrm>
            <a:off x="1275804" y="405266"/>
            <a:ext cx="9640391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normAutofit fontScale="100000" lnSpcReduction="0"/>
          </a:bodyPr>
          <a:lstStyle>
            <a:lvl1pPr algn="ctr" defTabSz="850391">
              <a:lnSpc>
                <a:spcPct val="72000"/>
              </a:lnSpc>
              <a:defRPr sz="4278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Acknowledgment of Team Members - Group 8</a:t>
            </a:r>
          </a:p>
        </p:txBody>
      </p:sp>
      <p:sp>
        <p:nvSpPr>
          <p:cNvPr id="111" name="TextBox 2"/>
          <p:cNvSpPr txBox="1"/>
          <p:nvPr/>
        </p:nvSpPr>
        <p:spPr>
          <a:xfrm>
            <a:off x="2549434" y="1600199"/>
            <a:ext cx="2587710" cy="3548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Daniel I Lin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UID: 121033345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Email: dlin0315@umd.edu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Hao-Lin Chiang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UID: 121166357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Email: beas28@umd.edu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Yang-Shun Lin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UID: 121287762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Email: yslin227@umd.edu</a:t>
            </a:r>
          </a:p>
        </p:txBody>
      </p:sp>
      <p:sp>
        <p:nvSpPr>
          <p:cNvPr id="112" name="TextBox 3"/>
          <p:cNvSpPr txBox="1"/>
          <p:nvPr/>
        </p:nvSpPr>
        <p:spPr>
          <a:xfrm>
            <a:off x="6664233" y="1600199"/>
            <a:ext cx="2637940" cy="3015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Sheng-Hsiang Huang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UID: 121303554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Email: shhuang@umd.edu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Alexios C Papazoglou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UID: 121332967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Email: apapazog@umd.edu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113" name="TextBox 4"/>
          <p:cNvSpPr txBox="1"/>
          <p:nvPr/>
        </p:nvSpPr>
        <p:spPr>
          <a:xfrm>
            <a:off x="502920" y="5943600"/>
            <a:ext cx="3208658" cy="615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Thank you for your attention!</a:t>
            </a:r>
          </a:p>
          <a:p>
            <a:pPr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Group 8 - University of Maryland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 佈景主題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佈景主題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 佈景主題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佈景主題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